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8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CCA67-D832-F685-668F-054698F25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7F1AB8-83FD-531A-7E5A-73FAD382B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D6AB9-F2CD-320A-891D-746D1F793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BB36-BEB1-4CA8-9FAB-D540BACA7C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0AFFD-3E97-BEC5-3E5D-29D7312AD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AFD96-B476-5FED-A004-EFDBBE39F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442-0EEE-45F1-9479-7BA8C33262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86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F1EDD-DD60-3B63-0D20-978DFE543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BEC2D-9EA9-C7B9-17DB-D7B6285B1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B9CFA-4878-B4FB-B307-8AA2E8F06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BB36-BEB1-4CA8-9FAB-D540BACA7C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054B8-A1EF-18A3-3161-F207466FC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067E4-8592-58A8-CF5A-C7809E03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442-0EEE-45F1-9479-7BA8C33262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391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10E19-FA41-D8EB-F990-14C3CE477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894AB-9D18-3F73-A6C1-4D7BC3039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79A59-09B0-1FD6-F496-B1A9EBC20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BB36-BEB1-4CA8-9FAB-D540BACA7C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86E08-A087-919B-C7C2-06924E5A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EC059-74F1-793B-EFCF-32569C3A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442-0EEE-45F1-9479-7BA8C33262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181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77DC2-9C5F-8741-D0FC-1DB5C2602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84073-EDBC-EB96-F673-E6F1586D33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34696-96B6-4ABD-7219-CC5D09414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6CE3D-1DED-819C-039E-3E8F18584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BB36-BEB1-4CA8-9FAB-D540BACA7C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7B1F7-CA6C-3C63-7451-ACC614745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4B517-2C99-5B56-40D0-8D7CB066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442-0EEE-45F1-9479-7BA8C33262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945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D4EC-A840-9485-A1FC-9E6955E9A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7B0D0-649F-02AE-0B18-A855C4F7B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5577C-8982-28B3-C050-2BDD3BA2D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250EE-8B5E-6A10-0BE7-F664C1ADBF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FC8C8B-4E35-A196-10F1-8281AEFEE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E58335-24BF-D4A7-499F-105AF27D5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BB36-BEB1-4CA8-9FAB-D540BACA7C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5BF3ED-9ACD-C553-8BA1-39833C5F7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270985-7CBB-055A-089E-28EE9C60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442-0EEE-45F1-9479-7BA8C33262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307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74AB1-CE7F-FEB0-47F0-785328E6B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D798FA-0A07-C06E-4D8C-77E406432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BB36-BEB1-4CA8-9FAB-D540BACA7C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DA356A-7DDE-4A0F-C679-4B02C1EB8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0CEF9A-FA5D-5C9B-1C50-EFC84CC2D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442-0EEE-45F1-9479-7BA8C33262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974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935C31-52FB-0DD7-9255-E1FBCBBB5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BB36-BEB1-4CA8-9FAB-D540BACA7C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8AF97B-B1B8-C1A7-DF17-195286E38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3E36D-27CA-E69F-AA44-2760B4115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442-0EEE-45F1-9479-7BA8C33262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32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D0C6B-60E4-A88C-BF78-400349F23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CFF4C-FC3E-3782-6638-41DC6C12B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D898A-2E03-A87E-885C-3AA19FB46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636A6-75DE-8444-4FF6-49D86A9E1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BB36-BEB1-4CA8-9FAB-D540BACA7C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FEB16-3886-47C3-7F55-7E6FA54A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E72FF-85D1-F72D-0995-221A3CE0B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442-0EEE-45F1-9479-7BA8C33262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192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E09E4-9DE7-1F76-576A-28A377E1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245134-BD43-8E49-2C82-6FDCB5D86F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6B86CD-FF7B-0B24-421E-82BD56A8C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7A512-BB02-08BD-7F35-9E9FB28E5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BB36-BEB1-4CA8-9FAB-D540BACA7C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94BD2-147C-186F-416F-577360011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F01D2-BECF-ABAC-B90D-B98C3BD48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442-0EEE-45F1-9479-7BA8C33262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974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9B2F1-8D10-A744-8D0B-F5F9D707B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1D001C-5371-C10E-4A3C-29B869E51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D403D-98F4-E6FF-2A12-B891485C3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BB36-BEB1-4CA8-9FAB-D540BACA7C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EF815-78AA-1425-51C8-0A58BEBF0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6DB19-5958-92E5-7EE9-1174B975A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442-0EEE-45F1-9479-7BA8C33262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337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09FDB5-AAE9-4DE6-77A7-50A7FD20C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6BD981-DF64-BA16-1C21-F99057C94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EB869-7FA7-6B45-5A62-3FE6C576B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6BB36-BEB1-4CA8-9FAB-D540BACA7C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A37CE-F020-E50F-6D8E-91C53E34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D5829-5C14-2B45-C2FF-FC91CDC0A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B442-0EEE-45F1-9479-7BA8C33262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327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FA1467-3979-B7C4-9A95-1CE9CFFB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EA4CC-8870-4852-04DA-A077291A6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F2BB3-1356-07F0-88C6-57101CCD1E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6BB36-BEB1-4CA8-9FAB-D540BACA7CBE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4E54D-D24C-073C-E072-39B2A704C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D64A1-28AC-0201-E8EA-1AF83EA10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AB442-0EEE-45F1-9479-7BA8C33262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694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862A7-1816-3542-0A74-C1E20190F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4074" y="769938"/>
            <a:ext cx="8543925" cy="2011362"/>
          </a:xfrm>
        </p:spPr>
        <p:txBody>
          <a:bodyPr/>
          <a:lstStyle/>
          <a:p>
            <a:r>
              <a:rPr lang="en-IN" dirty="0"/>
              <a:t>APPLICATION BASED QUESTION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A72A90-B240-86E6-20F7-7772D5E9D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4036" y="3657600"/>
            <a:ext cx="9144000" cy="1655762"/>
          </a:xfrm>
        </p:spPr>
        <p:txBody>
          <a:bodyPr/>
          <a:lstStyle/>
          <a:p>
            <a:r>
              <a:rPr lang="en-IN" dirty="0"/>
              <a:t>CSA5117 – CRYPTOGRAPHY AND NETWORK SECURITY</a:t>
            </a:r>
          </a:p>
          <a:p>
            <a:r>
              <a:rPr lang="en-IN" dirty="0"/>
              <a:t>NAME : SARU HASINI</a:t>
            </a:r>
            <a:r>
              <a:rPr lang="en-IN"/>
              <a:t>.S</a:t>
            </a:r>
            <a:endParaRPr lang="en-IN" dirty="0"/>
          </a:p>
          <a:p>
            <a:r>
              <a:rPr lang="en-IN"/>
              <a:t>REG </a:t>
            </a:r>
            <a:r>
              <a:rPr lang="en-IN" dirty="0"/>
              <a:t>NO : 192521418</a:t>
            </a:r>
          </a:p>
        </p:txBody>
      </p:sp>
    </p:spTree>
    <p:extLst>
      <p:ext uri="{BB962C8B-B14F-4D97-AF65-F5344CB8AC3E}">
        <p14:creationId xmlns:p14="http://schemas.microsoft.com/office/powerpoint/2010/main" val="271532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A33E-DF5B-EAA2-1036-98BC77F6C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319406"/>
            <a:ext cx="10515600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D1E032A-6FA5-988B-4955-06495892C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2" y="145256"/>
            <a:ext cx="10515600" cy="4351338"/>
          </a:xfrm>
        </p:spPr>
        <p:txBody>
          <a:bodyPr/>
          <a:lstStyle/>
          <a:p>
            <a:r>
              <a:rPr lang="en-US" sz="1800" b="1" dirty="0"/>
              <a:t>1. Event Communication Security (Caesar Cipher)</a:t>
            </a:r>
          </a:p>
          <a:p>
            <a:r>
              <a:rPr lang="en-US" sz="1800" b="1" dirty="0"/>
              <a:t>Given:</a:t>
            </a:r>
          </a:p>
          <a:p>
            <a:r>
              <a:rPr lang="en-US" sz="1800" dirty="0"/>
              <a:t>Original Message: </a:t>
            </a:r>
            <a:r>
              <a:rPr lang="en-US" sz="1800" b="1" dirty="0"/>
              <a:t>MEET AT NOON</a:t>
            </a:r>
            <a:r>
              <a:rPr lang="en-US" sz="1800" dirty="0"/>
              <a:t> </a:t>
            </a:r>
          </a:p>
          <a:p>
            <a:r>
              <a:rPr lang="en-US" sz="1800" dirty="0"/>
              <a:t>Shift = </a:t>
            </a:r>
            <a:r>
              <a:rPr lang="en-US" sz="1800" b="1" dirty="0"/>
              <a:t>4</a:t>
            </a:r>
            <a:r>
              <a:rPr lang="en-US" sz="1800" dirty="0"/>
              <a:t> (forward) </a:t>
            </a:r>
          </a:p>
          <a:p>
            <a:r>
              <a:rPr lang="en-US" sz="1800" b="1" dirty="0"/>
              <a:t>Encryption</a:t>
            </a:r>
          </a:p>
          <a:p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C41BA04-0D56-AB19-A29B-79D2B0A73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201429"/>
              </p:ext>
            </p:extLst>
          </p:nvPr>
        </p:nvGraphicFramePr>
        <p:xfrm>
          <a:off x="838190" y="2423160"/>
          <a:ext cx="10515604" cy="1005840"/>
        </p:xfrm>
        <a:graphic>
          <a:graphicData uri="http://schemas.openxmlformats.org/drawingml/2006/table">
            <a:tbl>
              <a:tblPr/>
              <a:tblGrid>
                <a:gridCol w="955964">
                  <a:extLst>
                    <a:ext uri="{9D8B030D-6E8A-4147-A177-3AD203B41FA5}">
                      <a16:colId xmlns:a16="http://schemas.microsoft.com/office/drawing/2014/main" val="3249403585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3407253287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559422645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463606073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858386511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979150912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401100216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2780074736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164274043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430861855"/>
                    </a:ext>
                  </a:extLst>
                </a:gridCol>
                <a:gridCol w="955964">
                  <a:extLst>
                    <a:ext uri="{9D8B030D-6E8A-4147-A177-3AD203B41FA5}">
                      <a16:colId xmlns:a16="http://schemas.microsoft.com/office/drawing/2014/main" val="8633199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Plain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891660"/>
                  </a:ext>
                </a:extLst>
              </a:tr>
              <a:tr h="189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Cipher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</a:t>
                      </a:r>
                    </a:p>
                    <a:p>
                      <a:pPr>
                        <a:buNone/>
                      </a:pPr>
                      <a:endParaRPr lang="en-IN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96044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6172453-6F98-7E23-AE24-CA2DB21BC669}"/>
              </a:ext>
            </a:extLst>
          </p:cNvPr>
          <p:cNvSpPr txBox="1"/>
          <p:nvPr/>
        </p:nvSpPr>
        <p:spPr>
          <a:xfrm>
            <a:off x="838184" y="3429000"/>
            <a:ext cx="99345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Encrypted Message</a:t>
            </a:r>
          </a:p>
          <a:p>
            <a:r>
              <a:rPr lang="en-IN" b="1" dirty="0"/>
              <a:t>QIIX EX RSSR</a:t>
            </a:r>
            <a:endParaRPr lang="en-IN" dirty="0"/>
          </a:p>
          <a:p>
            <a:r>
              <a:rPr lang="en-IN" b="1" dirty="0"/>
              <a:t>Decryption</a:t>
            </a:r>
          </a:p>
          <a:p>
            <a:r>
              <a:rPr lang="en-IN" dirty="0"/>
              <a:t>The receiver shifts every letter </a:t>
            </a:r>
            <a:r>
              <a:rPr lang="en-IN" b="1" dirty="0"/>
              <a:t>4 positions backward</a:t>
            </a:r>
            <a:r>
              <a:rPr lang="en-IN" dirty="0"/>
              <a:t>.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Q → M </a:t>
            </a:r>
          </a:p>
          <a:p>
            <a:r>
              <a:rPr lang="en-IN" dirty="0"/>
              <a:t>I → E </a:t>
            </a:r>
          </a:p>
          <a:p>
            <a:r>
              <a:rPr lang="en-IN" dirty="0"/>
              <a:t>X → T </a:t>
            </a:r>
          </a:p>
          <a:p>
            <a:r>
              <a:rPr lang="en-IN" dirty="0"/>
              <a:t>Recovered message:</a:t>
            </a:r>
            <a:br>
              <a:rPr lang="en-IN" dirty="0"/>
            </a:br>
            <a:r>
              <a:rPr lang="en-IN" b="1" dirty="0"/>
              <a:t>MEET AT NOON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0705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F7635B-6828-E6A2-CF46-110BF8CD0DA1}"/>
              </a:ext>
            </a:extLst>
          </p:cNvPr>
          <p:cNvSpPr txBox="1"/>
          <p:nvPr/>
        </p:nvSpPr>
        <p:spPr>
          <a:xfrm>
            <a:off x="285750" y="160288"/>
            <a:ext cx="110204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Intercepted Suspicious Message (Caesar Cipher)</a:t>
            </a:r>
          </a:p>
          <a:p>
            <a:pPr>
              <a:buNone/>
            </a:pPr>
            <a:r>
              <a:rPr lang="en-IN" b="1" dirty="0"/>
              <a:t>Ciphertext</a:t>
            </a:r>
          </a:p>
          <a:p>
            <a:pPr>
              <a:buNone/>
            </a:pPr>
            <a:r>
              <a:rPr lang="en-IN" b="1" dirty="0"/>
              <a:t>GSRH RH Z HVXIVG</a:t>
            </a:r>
            <a:endParaRPr lang="en-IN" dirty="0"/>
          </a:p>
          <a:p>
            <a:pPr>
              <a:buNone/>
            </a:pPr>
            <a:r>
              <a:rPr lang="en-IN" dirty="0"/>
              <a:t>This is encrypted using the </a:t>
            </a:r>
            <a:r>
              <a:rPr lang="en-IN" b="1" dirty="0"/>
              <a:t>Atbash Cipher</a:t>
            </a:r>
            <a:r>
              <a:rPr lang="en-IN" dirty="0"/>
              <a:t>, 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↔ Z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 ↔ 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 ↔ 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 ↔ W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E673632-B026-CC86-D04D-3FBEFA4F6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295673"/>
              </p:ext>
            </p:extLst>
          </p:nvPr>
        </p:nvGraphicFramePr>
        <p:xfrm>
          <a:off x="285750" y="2502059"/>
          <a:ext cx="10515600" cy="7315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69238934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5034939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1160546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994845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13964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Cipher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017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22825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ADA81BC-2D0D-B43E-48CB-A995A5FF7AAD}"/>
              </a:ext>
            </a:extLst>
          </p:cNvPr>
          <p:cNvSpPr txBox="1"/>
          <p:nvPr/>
        </p:nvSpPr>
        <p:spPr>
          <a:xfrm>
            <a:off x="285750" y="3281204"/>
            <a:ext cx="111537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RH → IS</a:t>
            </a:r>
          </a:p>
          <a:p>
            <a:r>
              <a:rPr lang="en-IN" dirty="0"/>
              <a:t>Z → A</a:t>
            </a:r>
          </a:p>
          <a:p>
            <a:r>
              <a:rPr lang="en-IN" dirty="0"/>
              <a:t>HVXIVG → SECRET</a:t>
            </a:r>
          </a:p>
          <a:p>
            <a:r>
              <a:rPr lang="en-IN" b="1" dirty="0"/>
              <a:t>Original Message</a:t>
            </a:r>
          </a:p>
          <a:p>
            <a:r>
              <a:rPr lang="en-IN" b="1" dirty="0"/>
              <a:t>THIS IS A SECRET</a:t>
            </a:r>
            <a:endParaRPr lang="en-IN" dirty="0"/>
          </a:p>
          <a:p>
            <a:r>
              <a:rPr lang="en-IN" b="1" dirty="0"/>
              <a:t>Justification</a:t>
            </a:r>
          </a:p>
          <a:p>
            <a:r>
              <a:rPr lang="en-IN" dirty="0"/>
              <a:t>Atbash substitutes every letter with its opposite alphabet letter. </a:t>
            </a:r>
          </a:p>
          <a:p>
            <a:r>
              <a:rPr lang="en-IN" dirty="0"/>
              <a:t>Repeating patterns remain visible. </a:t>
            </a:r>
          </a:p>
          <a:p>
            <a:r>
              <a:rPr lang="en-IN" dirty="0"/>
              <a:t>Word lengths match: </a:t>
            </a:r>
          </a:p>
          <a:p>
            <a:pPr lvl="1"/>
            <a:r>
              <a:rPr lang="en-IN" dirty="0"/>
              <a:t>GSRH → THIS </a:t>
            </a:r>
          </a:p>
          <a:p>
            <a:pPr lvl="1"/>
            <a:r>
              <a:rPr lang="en-IN" dirty="0"/>
              <a:t>RH → IS </a:t>
            </a:r>
          </a:p>
          <a:p>
            <a:pPr lvl="1"/>
            <a:r>
              <a:rPr lang="en-IN" dirty="0"/>
              <a:t>Z → A </a:t>
            </a:r>
          </a:p>
          <a:p>
            <a:pPr lvl="1"/>
            <a:r>
              <a:rPr lang="en-IN" dirty="0"/>
              <a:t>HVXIVG → SECRET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3886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DE1A92-ECB3-81F2-E478-55047C74BC69}"/>
              </a:ext>
            </a:extLst>
          </p:cNvPr>
          <p:cNvSpPr txBox="1"/>
          <p:nvPr/>
        </p:nvSpPr>
        <p:spPr>
          <a:xfrm>
            <a:off x="428625" y="257175"/>
            <a:ext cx="112299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3. Secure Messaging System (Vigenère Cipher)</a:t>
            </a:r>
          </a:p>
          <a:p>
            <a:r>
              <a:rPr lang="en-IN" b="1" dirty="0"/>
              <a:t>Plaintext</a:t>
            </a:r>
          </a:p>
          <a:p>
            <a:r>
              <a:rPr lang="en-IN" b="1" dirty="0"/>
              <a:t>HELLO</a:t>
            </a:r>
            <a:endParaRPr lang="en-IN" dirty="0"/>
          </a:p>
          <a:p>
            <a:r>
              <a:rPr lang="en-IN" b="1" dirty="0"/>
              <a:t>Keyword</a:t>
            </a:r>
          </a:p>
          <a:p>
            <a:r>
              <a:rPr lang="en-IN" b="1" dirty="0"/>
              <a:t>KEY</a:t>
            </a:r>
            <a:endParaRPr lang="en-IN" dirty="0"/>
          </a:p>
          <a:p>
            <a:r>
              <a:rPr lang="en-IN" dirty="0"/>
              <a:t>Repeat keyword:</a:t>
            </a:r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3E6438-B57D-49E5-02EB-40D106DDA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73283"/>
              </p:ext>
            </p:extLst>
          </p:nvPr>
        </p:nvGraphicFramePr>
        <p:xfrm>
          <a:off x="428625" y="2044859"/>
          <a:ext cx="10515600" cy="73152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150380429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1402777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9244603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0431862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9860750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49933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Plaintext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149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9772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31CCCF-14C0-36AE-4236-02780A9EB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786218"/>
              </p:ext>
            </p:extLst>
          </p:nvPr>
        </p:nvGraphicFramePr>
        <p:xfrm>
          <a:off x="428625" y="3124200"/>
          <a:ext cx="10515600" cy="27432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7717299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4899264"/>
                    </a:ext>
                  </a:extLst>
                </a:gridCol>
              </a:tblGrid>
              <a:tr h="302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Alphabet values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Letter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210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744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149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391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43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259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9335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0C3E55-485E-9FB6-BA3C-B2CC7C563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687824"/>
              </p:ext>
            </p:extLst>
          </p:nvPr>
        </p:nvGraphicFramePr>
        <p:xfrm>
          <a:off x="419100" y="275114"/>
          <a:ext cx="10515600" cy="27432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47909126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57623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Key Values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Letter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942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002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82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806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858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28382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8B5890-B45A-E37E-1A1D-FD751724D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085233"/>
              </p:ext>
            </p:extLst>
          </p:nvPr>
        </p:nvGraphicFramePr>
        <p:xfrm>
          <a:off x="419100" y="3499326"/>
          <a:ext cx="10515600" cy="27432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418924542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8937206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70460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795903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841347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Encryption 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Plain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Calculation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Cipher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210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K(10)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7+10=17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28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E(4)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4+4=8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376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Y(24)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 mod 26=9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977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K(10)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549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E(4)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47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207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91B74A-F752-709D-AF52-3326C47501BD}"/>
              </a:ext>
            </a:extLst>
          </p:cNvPr>
          <p:cNvSpPr txBox="1"/>
          <p:nvPr/>
        </p:nvSpPr>
        <p:spPr>
          <a:xfrm>
            <a:off x="428625" y="612844"/>
            <a:ext cx="113347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4. Suspicious Digital Asset Investigation (Steganography)</a:t>
            </a:r>
          </a:p>
          <a:p>
            <a:r>
              <a:rPr lang="en-IN" b="1" dirty="0"/>
              <a:t>How investigators can detect hidden data</a:t>
            </a:r>
          </a:p>
          <a:p>
            <a:r>
              <a:rPr lang="en-IN" b="1" dirty="0"/>
              <a:t>Statistical Analysis</a:t>
            </a:r>
            <a:r>
              <a:rPr lang="en-IN" dirty="0"/>
              <a:t> </a:t>
            </a:r>
          </a:p>
          <a:p>
            <a:pPr lvl="1"/>
            <a:r>
              <a:rPr lang="en-IN" dirty="0" err="1"/>
              <a:t>Analyze</a:t>
            </a:r>
            <a:r>
              <a:rPr lang="en-IN" dirty="0"/>
              <a:t> image pixels. </a:t>
            </a:r>
          </a:p>
          <a:p>
            <a:pPr lvl="1"/>
            <a:r>
              <a:rPr lang="en-IN" dirty="0"/>
              <a:t>Detect unusual changes in Least Significant Bits (LSB). </a:t>
            </a:r>
          </a:p>
          <a:p>
            <a:pPr lvl="1"/>
            <a:r>
              <a:rPr lang="en-IN" dirty="0"/>
              <a:t>Compare pixel distribution with normal images. </a:t>
            </a:r>
          </a:p>
          <a:p>
            <a:r>
              <a:rPr lang="en-IN" b="1" dirty="0"/>
              <a:t>Steganalysis Tools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Use forensic software like: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 err="1"/>
              <a:t>StegExpose</a:t>
            </a:r>
            <a:r>
              <a:rPr lang="en-IN" dirty="0"/>
              <a:t>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 err="1"/>
              <a:t>StegSecret</a:t>
            </a:r>
            <a:r>
              <a:rPr lang="en-IN" dirty="0"/>
              <a:t>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 err="1"/>
              <a:t>OpenStego</a:t>
            </a:r>
            <a:r>
              <a:rPr lang="en-IN" dirty="0"/>
              <a:t> Analyzer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 err="1"/>
              <a:t>zsteg</a:t>
            </a:r>
            <a:r>
              <a:rPr lang="en-IN" dirty="0"/>
              <a:t> (PNG) </a:t>
            </a:r>
          </a:p>
          <a:p>
            <a:pPr lvl="1"/>
            <a:r>
              <a:rPr lang="en-IN" dirty="0"/>
              <a:t>These tools identify hidden messages or suspicious modifications. </a:t>
            </a:r>
          </a:p>
          <a:p>
            <a:r>
              <a:rPr lang="en-IN" b="1" dirty="0"/>
              <a:t>Two techniques to improve security of hidden communication</a:t>
            </a:r>
          </a:p>
          <a:p>
            <a:r>
              <a:rPr lang="en-IN" b="1" dirty="0"/>
              <a:t>1. Encrypt the secret message before embedding</a:t>
            </a:r>
            <a:endParaRPr lang="en-IN" dirty="0"/>
          </a:p>
          <a:p>
            <a:r>
              <a:rPr lang="en-IN" dirty="0"/>
              <a:t>Even if extracted, the message remains unreadable without the encryption key. </a:t>
            </a:r>
          </a:p>
          <a:p>
            <a:r>
              <a:rPr lang="en-IN" b="1" dirty="0"/>
              <a:t>2. Use adaptive/random embedding</a:t>
            </a:r>
            <a:endParaRPr lang="en-IN" dirty="0"/>
          </a:p>
          <a:p>
            <a:r>
              <a:rPr lang="en-IN" dirty="0"/>
              <a:t>Embed data only in selected image regions using a secret key instead of sequential pixels. </a:t>
            </a:r>
          </a:p>
          <a:p>
            <a:r>
              <a:rPr lang="en-IN" dirty="0"/>
              <a:t>This makes detection much harder.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2821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46BD49-9BF0-9A35-9E7A-771A0CBEDCDE}"/>
              </a:ext>
            </a:extLst>
          </p:cNvPr>
          <p:cNvSpPr txBox="1"/>
          <p:nvPr/>
        </p:nvSpPr>
        <p:spPr>
          <a:xfrm>
            <a:off x="381000" y="314325"/>
            <a:ext cx="116109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5. Legacy Encryption in Corporate Communication (Rail Fence Cipher)</a:t>
            </a:r>
          </a:p>
          <a:p>
            <a:r>
              <a:rPr lang="en-IN" b="1" dirty="0"/>
              <a:t>Ciphertext</a:t>
            </a:r>
          </a:p>
          <a:p>
            <a:r>
              <a:rPr lang="en-IN" b="1" dirty="0"/>
              <a:t>WECRLTEERDSOEEFEAOCAIVDEN</a:t>
            </a:r>
            <a:endParaRPr lang="en-IN" dirty="0"/>
          </a:p>
          <a:p>
            <a:r>
              <a:rPr lang="en-IN" dirty="0"/>
              <a:t>This is a </a:t>
            </a:r>
            <a:r>
              <a:rPr lang="en-IN" b="1" dirty="0"/>
              <a:t>3-Rail Fence Cipher</a:t>
            </a:r>
            <a:r>
              <a:rPr lang="en-IN" dirty="0"/>
              <a:t>.</a:t>
            </a:r>
          </a:p>
          <a:p>
            <a:r>
              <a:rPr lang="en-IN" b="1" dirty="0"/>
              <a:t>a) Original Message</a:t>
            </a:r>
          </a:p>
          <a:p>
            <a:r>
              <a:rPr lang="en-IN" dirty="0"/>
              <a:t>Arrange letters into three rails.</a:t>
            </a:r>
          </a:p>
          <a:p>
            <a:endParaRPr lang="en-IN" dirty="0"/>
          </a:p>
        </p:txBody>
      </p:sp>
      <p:pic>
        <p:nvPicPr>
          <p:cNvPr id="10" name="Picture 9" descr="A screenshot of a white sheet with black text&#10;&#10;AI-generated content may be incorrect.">
            <a:extLst>
              <a:ext uri="{FF2B5EF4-FFF2-40B4-BE49-F238E27FC236}">
                <a16:creationId xmlns:a16="http://schemas.microsoft.com/office/drawing/2014/main" id="{EA4B945A-7876-CFBF-6475-F3940CC22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038229"/>
            <a:ext cx="3528366" cy="27815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C06628-FB80-78CA-7010-C5A66D5E9FC2}"/>
              </a:ext>
            </a:extLst>
          </p:cNvPr>
          <p:cNvSpPr txBox="1"/>
          <p:nvPr/>
        </p:nvSpPr>
        <p:spPr>
          <a:xfrm>
            <a:off x="381000" y="4855250"/>
            <a:ext cx="110966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b) Why is this method vulnerable?</a:t>
            </a:r>
          </a:p>
          <a:p>
            <a:r>
              <a:rPr lang="en-US" dirty="0"/>
              <a:t>It uses </a:t>
            </a:r>
            <a:r>
              <a:rPr lang="en-US" b="1" dirty="0"/>
              <a:t>only letter rearrangement</a:t>
            </a:r>
            <a:r>
              <a:rPr lang="en-US" dirty="0"/>
              <a:t>, not substitution. </a:t>
            </a:r>
          </a:p>
          <a:p>
            <a:r>
              <a:rPr lang="en-US" dirty="0"/>
              <a:t>No encryption key is required. </a:t>
            </a:r>
          </a:p>
          <a:p>
            <a:r>
              <a:rPr lang="en-US" dirty="0"/>
              <a:t>Patterns remain unchanged. </a:t>
            </a:r>
          </a:p>
          <a:p>
            <a:r>
              <a:rPr lang="en-US" dirty="0"/>
              <a:t>Frequency analysis is still possible. </a:t>
            </a:r>
          </a:p>
          <a:p>
            <a:r>
              <a:rPr lang="en-US" dirty="0"/>
              <a:t>Modern computers can brute-force the small number of rail combinations quickly.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4652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A149EF-4F3C-6047-7B8E-F612E7F35A4D}"/>
              </a:ext>
            </a:extLst>
          </p:cNvPr>
          <p:cNvSpPr txBox="1"/>
          <p:nvPr/>
        </p:nvSpPr>
        <p:spPr>
          <a:xfrm>
            <a:off x="342900" y="485775"/>
            <a:ext cx="113442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c) Practical enhancement</a:t>
            </a:r>
          </a:p>
          <a:p>
            <a:r>
              <a:rPr lang="en-US" dirty="0"/>
              <a:t>Replace the Rail Fence Cipher with a modern encryption algorithm such as:</a:t>
            </a:r>
          </a:p>
          <a:p>
            <a:r>
              <a:rPr lang="en-US" b="1" dirty="0"/>
              <a:t>AES (Advanced Encryption Standard)</a:t>
            </a:r>
            <a:r>
              <a:rPr lang="en-US" dirty="0"/>
              <a:t> </a:t>
            </a:r>
          </a:p>
          <a:p>
            <a:r>
              <a:rPr lang="en-US" dirty="0"/>
              <a:t>Advantages:</a:t>
            </a:r>
          </a:p>
          <a:p>
            <a:r>
              <a:rPr lang="en-US" dirty="0"/>
              <a:t>Strong key-based encryption. </a:t>
            </a:r>
          </a:p>
          <a:p>
            <a:r>
              <a:rPr lang="en-US" dirty="0"/>
              <a:t>Resistant to brute-force attacks. </a:t>
            </a:r>
          </a:p>
          <a:p>
            <a:r>
              <a:rPr lang="en-US" dirty="0"/>
              <a:t>Widely used in secure communication. </a:t>
            </a:r>
          </a:p>
          <a:p>
            <a:r>
              <a:rPr lang="en-US" dirty="0"/>
              <a:t>Provides much stronger confidentiality than transposition alone. </a:t>
            </a:r>
          </a:p>
          <a:p>
            <a:endParaRPr lang="en-IN" dirty="0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6194923C-DFF1-998E-7B31-8829A076A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" y="2880597"/>
            <a:ext cx="1684166" cy="385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52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8A036D-2EAE-D89E-79C8-790B0C883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703" y="255005"/>
            <a:ext cx="6858594" cy="611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458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537</Words>
  <Application>Microsoft Office PowerPoint</Application>
  <PresentationFormat>Widescreen</PresentationFormat>
  <Paragraphs>188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APPLICATION BASED QUESTION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charumerlin17@outlook.com</dc:creator>
  <cp:lastModifiedBy>charumerlin17@outlook.com</cp:lastModifiedBy>
  <cp:revision>1</cp:revision>
  <dcterms:created xsi:type="dcterms:W3CDTF">2026-07-19T08:24:23Z</dcterms:created>
  <dcterms:modified xsi:type="dcterms:W3CDTF">2026-07-19T08:46:57Z</dcterms:modified>
</cp:coreProperties>
</file>